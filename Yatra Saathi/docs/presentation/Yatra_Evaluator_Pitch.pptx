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af725b4f5745d3" /><Relationship Type="http://schemas.openxmlformats.org/officeDocument/2006/relationships/extended-properties" Target="/docProps/app.xml" Id="R291f068d06b24b26" /><Relationship Type="http://schemas.openxmlformats.org/officeDocument/2006/relationships/officeDocument" Target="/ppt/presentation.xml" Id="R71040b42d5564e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88d0c7558641fe"/>
  </p:sldMasterIdLst>
  <p:notesMasterIdLst>
    <p:notesMasterId xmlns:r="http://schemas.openxmlformats.org/officeDocument/2006/relationships" r:id="R0cc1350cbab04e62"/>
  </p:notesMasterIdLst>
  <p:sldIdLst>
    <p:sldId xmlns:r="http://schemas.openxmlformats.org/officeDocument/2006/relationships" id="256" r:id="R591c0ff4fcce49eb"/>
    <p:sldId xmlns:r="http://schemas.openxmlformats.org/officeDocument/2006/relationships" id="257" r:id="R370a8efe018c4566"/>
    <p:sldId xmlns:r="http://schemas.openxmlformats.org/officeDocument/2006/relationships" id="258" r:id="R740e76e831714e04"/>
    <p:sldId xmlns:r="http://schemas.openxmlformats.org/officeDocument/2006/relationships" id="259" r:id="R1d7a8e9b3c054cbd"/>
    <p:sldId xmlns:r="http://schemas.openxmlformats.org/officeDocument/2006/relationships" id="260" r:id="R68e808b0c46e4ce0"/>
    <p:sldId xmlns:r="http://schemas.openxmlformats.org/officeDocument/2006/relationships" id="261" r:id="R859c353e6fe946d1"/>
    <p:sldId xmlns:r="http://schemas.openxmlformats.org/officeDocument/2006/relationships" id="262" r:id="R6143635e4c55470d"/>
    <p:sldId xmlns:r="http://schemas.openxmlformats.org/officeDocument/2006/relationships" id="263" r:id="R1dfe4c1125904915"/>
    <p:sldId xmlns:r="http://schemas.openxmlformats.org/officeDocument/2006/relationships" id="264" r:id="Rf371416701b64c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58fca5cff64596" /><Relationship Type="http://schemas.openxmlformats.org/officeDocument/2006/relationships/slideMaster" Target="/ppt/slideMasters/slideMaster1.xml" Id="R4888d0c7558641fe" /><Relationship Type="http://schemas.openxmlformats.org/officeDocument/2006/relationships/notesMaster" Target="/ppt/notesMasters/notesMaster1.xml" Id="R0cc1350cbab04e62" /><Relationship Type="http://schemas.openxmlformats.org/officeDocument/2006/relationships/presProps" Target="/ppt/presProps.xml" Id="R7583bb2d84184acc" /><Relationship Type="http://schemas.openxmlformats.org/officeDocument/2006/relationships/tableStyles" Target="/ppt/tableStyles.xml" Id="R58e07b2223ad4910" /><Relationship Type="http://schemas.openxmlformats.org/officeDocument/2006/relationships/slide" Target="/ppt/slides/slide1.xml" Id="R591c0ff4fcce49eb" /><Relationship Type="http://schemas.openxmlformats.org/officeDocument/2006/relationships/slide" Target="/ppt/slides/slide2.xml" Id="R370a8efe018c4566" /><Relationship Type="http://schemas.openxmlformats.org/officeDocument/2006/relationships/slide" Target="/ppt/slides/slide3.xml" Id="R740e76e831714e04" /><Relationship Type="http://schemas.openxmlformats.org/officeDocument/2006/relationships/slide" Target="/ppt/slides/slide4.xml" Id="R1d7a8e9b3c054cbd" /><Relationship Type="http://schemas.openxmlformats.org/officeDocument/2006/relationships/slide" Target="/ppt/slides/slide5.xml" Id="R68e808b0c46e4ce0" /><Relationship Type="http://schemas.openxmlformats.org/officeDocument/2006/relationships/slide" Target="/ppt/slides/slide6.xml" Id="R859c353e6fe946d1" /><Relationship Type="http://schemas.openxmlformats.org/officeDocument/2006/relationships/slide" Target="/ppt/slides/slide7.xml" Id="R6143635e4c55470d" /><Relationship Type="http://schemas.openxmlformats.org/officeDocument/2006/relationships/slide" Target="/ppt/slides/slide8.xml" Id="R1dfe4c1125904915" /><Relationship Type="http://schemas.openxmlformats.org/officeDocument/2006/relationships/slide" Target="/ppt/slides/slide9.xml" Id="Rf371416701b64c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b5f08c6fff48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3879d5d1a54d37" /><Relationship Type="http://schemas.openxmlformats.org/officeDocument/2006/relationships/notesMaster" Target="/ppt/notesMasters/notesMaster1.xml" Id="R88c99375321c49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e01a00b5064777" /><Relationship Type="http://schemas.openxmlformats.org/officeDocument/2006/relationships/notesMaster" Target="/ppt/notesMasters/notesMaster1.xml" Id="Rf5a306e0913340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d110dc4c024dc0" /><Relationship Type="http://schemas.openxmlformats.org/officeDocument/2006/relationships/notesMaster" Target="/ppt/notesMasters/notesMaster1.xml" Id="R7d0dd487ed414e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44f136e39542d8" /><Relationship Type="http://schemas.openxmlformats.org/officeDocument/2006/relationships/notesMaster" Target="/ppt/notesMasters/notesMaster1.xml" Id="R48a021080e3343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98a7e7b2d74930" /><Relationship Type="http://schemas.openxmlformats.org/officeDocument/2006/relationships/notesMaster" Target="/ppt/notesMasters/notesMaster1.xml" Id="R9850a031724e4c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7a7e786b144524" /><Relationship Type="http://schemas.openxmlformats.org/officeDocument/2006/relationships/notesMaster" Target="/ppt/notesMasters/notesMaster1.xml" Id="R9d68958995274fc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c076fa6a48443c" /><Relationship Type="http://schemas.openxmlformats.org/officeDocument/2006/relationships/notesMaster" Target="/ppt/notesMasters/notesMaster1.xml" Id="Rbef8ff0480a64d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291e3bf3cf44c0" /><Relationship Type="http://schemas.openxmlformats.org/officeDocument/2006/relationships/notesMaster" Target="/ppt/notesMasters/notesMaster1.xml" Id="R5e8d825e8c9e4b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471ec9ce6a4777" /><Relationship Type="http://schemas.openxmlformats.org/officeDocument/2006/relationships/notesMaster" Target="/ppt/notesMasters/notesMaster1.xml" Id="R5a91c9fdc3e64a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6f9538461c4f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22649a8cc5473e" /><Relationship Type="http://schemas.openxmlformats.org/officeDocument/2006/relationships/slideLayout" Target="/ppt/slideLayouts/slideLayout1.xml" Id="R43e992e5d39646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e992e5d39646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c98479bea94ee8" /><Relationship Type="http://schemas.openxmlformats.org/officeDocument/2006/relationships/notesSlide" Target="/ppt/notesSlides/notesSlide1.xml" Id="R54e3dd39c51e4d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bb0dfc3d54250" /><Relationship Type="http://schemas.openxmlformats.org/officeDocument/2006/relationships/notesSlide" Target="/ppt/notesSlides/notesSlide2.xml" Id="R600fd10d3cfd49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240619d87f4470" /><Relationship Type="http://schemas.openxmlformats.org/officeDocument/2006/relationships/notesSlide" Target="/ppt/notesSlides/notesSlide3.xml" Id="R3b811b90149643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bb9dfe5ee45f3" /><Relationship Type="http://schemas.openxmlformats.org/officeDocument/2006/relationships/notesSlide" Target="/ppt/notesSlides/notesSlide4.xml" Id="R6d8ac4fb755e46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aaa2dd07e4a90" /><Relationship Type="http://schemas.openxmlformats.org/officeDocument/2006/relationships/notesSlide" Target="/ppt/notesSlides/notesSlide5.xml" Id="Rba60e51de0994b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4aef674f6243a9" /><Relationship Type="http://schemas.openxmlformats.org/officeDocument/2006/relationships/notesSlide" Target="/ppt/notesSlides/notesSlide6.xml" Id="R9c35b345717345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f62b04184d4339" /><Relationship Type="http://schemas.openxmlformats.org/officeDocument/2006/relationships/notesSlide" Target="/ppt/notesSlides/notesSlide7.xml" Id="R5ac9ba8ca00d4b3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1c62c5bc141b0" /><Relationship Type="http://schemas.openxmlformats.org/officeDocument/2006/relationships/notesSlide" Target="/ppt/notesSlides/notesSlide8.xml" Id="Re6200f801109419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a54f9526d4546" /><Relationship Type="http://schemas.openxmlformats.org/officeDocument/2006/relationships/notesSlide" Target="/ppt/notesSlides/notesSlide9.xml" Id="Rac5bc03ad66440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F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50EF48-3DCC-46FC-AB41-726B13ED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C77D3A-81E8-4C9E-8340-6305C072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YATRA  /  AI TRAVEL PLANNER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EFBFD5-DDAB-482D-A782-AD1E9955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647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Travel planning,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with guardrails.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0A0694-3288-4FBE-961E-35E25850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9925"/>
            <a:ext cx="514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8D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C8D6D8"/>
                </a:solidFill>
                <a:latin typeface="Helvetica Neue"/>
                <a:ea typeface="Helvetica Neue"/>
                <a:cs typeface="Helvetica Neue"/>
              </a:rPr>
              <a:t>A conversational trip planner that searches, checks the spend cap, and keeps the traveler in control.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FE6D9D-D71B-47ED-944C-4F377D89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752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9334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6F5B08-580A-47D6-9BB9-C6D10D30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7625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2F0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2F0E6"/>
                </a:solidFill>
                <a:latin typeface="Helvetica Neue"/>
                <a:ea typeface="Helvetica Neue"/>
                <a:cs typeface="Helvetica Neue"/>
              </a:rPr>
              <a:t>HACKATHON MVP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80EC13-2E63-40BD-B0A9-66D1397A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Plan  /  Compare  /  Confirm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AAE11D-F249-46BC-8A4B-0E564916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66800"/>
            <a:ext cx="4095750" cy="476250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9334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604E6C-17AC-4C9A-B847-0D2159F7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3811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FROM A GOAL TO A 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558520-2B55-4EC2-8A99-85C9F732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62200"/>
            <a:ext cx="2409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2717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76A81B-E18B-434A-A863-53CC0219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62200"/>
            <a:ext cx="0" cy="2057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2717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E8C40E-D564-43A8-82C0-821A7193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19600"/>
            <a:ext cx="2409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2717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4533C2-5678-4163-AD3C-7CAC17F6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095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654DD5-17DB-42DC-AB56-C24D4EC6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1907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EFE994-AFED-4584-9D98-6F065529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622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SEARCH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1055F8-4975-4CA7-979F-61E2B80D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95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76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AE4390-7CE1-4F96-BD4F-6293CE68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907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E13A80-EFE8-4668-890F-E38EDAA0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7622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CHECK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6573BA-2785-4BE6-90F0-B57B99C8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1529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26CB6D-4984-4405-9BFF-AC7C0D36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481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0DA754-49EF-45F7-9A67-9044A0D0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8196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REPLAN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3F2964-DA34-4277-9CC2-A7571051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1529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47F42F-212C-4AE8-B15D-495CC480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2481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015EFC-5E73-4BE8-9195-DE9FB16F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8196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CONFIRM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ACBFE2-63C6-4CA0-8E6D-169F9A5E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25780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8D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8D6D8"/>
                </a:solidFill>
                <a:latin typeface="Helvetica Neue"/>
                <a:ea typeface="Helvetica Neue"/>
                <a:cs typeface="Helvetica Neue"/>
              </a:rPr>
              <a:t>A visible decision trail at every step</a:t>
            </a:r>
          </a:p>
        </p:txBody>
      </p:sp>
    </p:spTree>
    <p:extLst>
      <p:ext uri="{BB962C8B-B14F-4D97-AF65-F5344CB8AC3E}">
        <p14:creationId xmlns:p14="http://schemas.microsoft.com/office/powerpoint/2010/main" val="4066184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CABAF6-D68D-4617-86A9-CB7BEFBA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THE USER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BD3D60-DDC7-4D07-9A00-926F56C8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Planning a trip means making many connected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3BB11A-A4A7-4FAA-AD69-D54D6013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23B50F-901C-4C3A-954B-1BE0EF92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YATRA  /  EVALUATOR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905546-1DE9-4FB8-9CB5-64CF3623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3E5D23-D5F8-4D47-90A7-162E6D17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Travelers compare options across sites while keeping dates, preferences and a hard budget aligned.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3087CC-A254-48FE-8E11-4D40FB43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rPr>
              <a:t>TODAY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3172B9-883E-42DF-8D3A-C10A8EE7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4797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Scattered choices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38C591-0CE8-4B17-A908-3A09D5E3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76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1C1074-CCF4-4656-8BC3-6205B629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6232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Flights in one place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213423-6B83-4FB2-9050-45F6453B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76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A282DE-5ABB-4B83-8B6A-AC89DA24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Stays somewhere else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42154D-3729-4A41-8563-6A8198D3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76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61523B-E21D-4DC7-AB3E-3109083A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4817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Costs add up late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CA079A-64A1-4DEA-AC9F-8AF76E78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4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76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01E490-C900-4B18-A7FF-934A42E1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911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Little visibility into agent actions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8FA4BD-70C7-4D4A-AED7-17BAEBA0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05075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D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4D5682-4863-4805-A68C-569402C1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1460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YATRA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C60F0A-978F-42D0-8B27-33873E88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4797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One guided flow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6B5380-9745-4BCA-9D6F-021996F7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86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F9AE8E-0F9F-48A0-BAC0-D64E9858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6232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One conversational trip brief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F578C6-A3BE-4041-85F6-BD9815A2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29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9BECB2-D35C-4E98-BAC5-A797B34C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052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Search flight + hotel options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55AFE3-8AEE-4A74-BD57-8F2469A1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72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DC1AA8-8BF8-4332-9ADD-8A4052E4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4817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Check spend before cart creation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DB9417-2405-40B2-B62C-D69B9089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14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5337A0-BFD7-441C-9BCE-10ED7FD1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99110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Ask the traveler before booking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764E7B-F413-499F-8528-614E9725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Designed for a focused trip: one destination, flights and a stay.</a:t>
            </a:r>
          </a:p>
        </p:txBody>
      </p:sp>
    </p:spTree>
    <p:extLst>
      <p:ext uri="{BB962C8B-B14F-4D97-AF65-F5344CB8AC3E}">
        <p14:creationId xmlns:p14="http://schemas.microsoft.com/office/powerpoint/2010/main" val="14075033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EB4C03E-9B57-49DE-9414-A5D96C5C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HOW YATRA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334F25-F5EF-4144-88BA-66D775EB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A clear sequence from request to confirmation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B968C0-7594-4333-BAA4-2F28CEE9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04DD3E-2191-496E-AE11-520CDAC7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YATRA  /  EVALUATOR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1B2630-C021-4AA6-99F3-547544FC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19BE0-9C54-4E50-AAEB-7EDE86F3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562100" cy="24574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298805-C4AB-4715-A007-1C915CE3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2404C-DE8A-4912-8316-EFA459AD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85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Understand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92D7E6-AF22-4DB1-A844-FF8454B1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11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Collect route, dates,</a:t>
            </a:r>
          </a:p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travelers and cap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9BF9DA-2EF5-4FBB-BA88-328A77EF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49567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3D6C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0358B9-1E8A-4FA8-ADCE-65D109C9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448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42543-15A6-4FF6-A570-D29D830C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66950"/>
            <a:ext cx="1562100" cy="24574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20DA82-D688-4D17-982C-DFC99E14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19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70BEE9-BE22-4B1F-A5FF-20E7B4AC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76550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Plan first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B26D39-83E5-4B8B-BE18-583EC427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37185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83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Show the ordered</a:t>
            </a:r>
          </a:p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steps before acting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56142A-936B-4C6A-9B97-44FC1A7E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49567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3D6C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0DB39C-1C98-4EE2-80C9-0F348C61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448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1284A0-2839-41F1-8A40-9D40076B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66950"/>
            <a:ext cx="1562100" cy="24574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7A54B5-47B9-46BB-AC07-625E79DC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19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680E20-C8E5-4AC0-B45E-0B200CBA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76550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Search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A7D3F1-663A-4C15-A218-FBF67A38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7185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87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Find flight and stay</a:t>
            </a:r>
          </a:p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options from catalog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AE7934-B69A-4D5C-8532-EB1929D9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9567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3D6C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13616D-B856-4590-A94C-E22430A4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448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C6914D-5627-40F3-B29D-10FC4F7D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66950"/>
            <a:ext cx="1562100" cy="24574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DF2E7A-BA14-4740-B1BE-017BD183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19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EC3BB8-4877-4A98-9FC6-4B3F9BE9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76550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Check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D0D814-F388-4977-AB84-D165FA22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Backend prices the cart</a:t>
            </a:r>
          </a:p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and enforces the cap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B0C434-BC28-4EEB-83B2-B559338A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9567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3D6C2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A8523B-E13A-4529-BEFB-137918ED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448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6B8E5D-ED82-481F-A0EF-09C31FD3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66950"/>
            <a:ext cx="1562100" cy="24574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ED278E-7A1E-4E50-A337-823F830D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19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3B41CD-2F36-4CE8-91D3-D5E1DFF0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76550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Choose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CFA547-CF86-4A35-8A83-45CBF94B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7185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Traveler compares</a:t>
            </a:r>
          </a:p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three packages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8F4910-C727-481E-9CF6-605E9F18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9567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3D6C2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38C9A5-920B-4A8A-8EAF-C6AD4E8B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448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16A230-6190-4676-A055-EFC260CD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66950"/>
            <a:ext cx="1562100" cy="24574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01F2B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087D28-7D5E-48E1-A9C9-ED3DEB32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19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8D804A-4648-4CBC-867D-8C8A66D2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76550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Confirm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1A7EAE-EE4D-4A39-8187-86594386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7185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5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4E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D4E0E1"/>
                </a:solidFill>
                <a:latin typeface="Helvetica Neue"/>
                <a:ea typeface="Helvetica Neue"/>
                <a:cs typeface="Helvetica Neue"/>
              </a:rPr>
              <a:t>Human approval unlocks</a:t>
            </a:r>
          </a:p>
          <a:p xmlns:a="http://schemas.openxmlformats.org/drawingml/2006/main">
            <a:pPr algn="l">
              <a:defRPr sz="1125" b="0">
                <a:solidFill>
                  <a:srgbClr val="D4E0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D4E0E1"/>
                </a:solidFill>
                <a:latin typeface="Helvetica Neue"/>
                <a:ea typeface="Helvetica Neue"/>
                <a:cs typeface="Helvetica Neue"/>
              </a:rPr>
              <a:t>a mocked booking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9086F6B-CF17-43C3-ACB8-82CFAF3F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EE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7CC367-764B-4714-87A3-7305483F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8162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The agent proposes. The backend validates. The traveler decides.</a:t>
            </a:r>
          </a:p>
        </p:txBody>
      </p:sp>
    </p:spTree>
    <p:extLst>
      <p:ext uri="{BB962C8B-B14F-4D97-AF65-F5344CB8AC3E}">
        <p14:creationId xmlns:p14="http://schemas.microsoft.com/office/powerpoint/2010/main" val="7913077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98648E-EA1A-4FB6-927D-27E34EBE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LIVE DEMO 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8DFDE1-A0FC-4DEB-8995-DDCC4037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A sample trip brief becomes comparable options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20146A-E286-4B6E-855C-9AB18F6D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B40397-C0B8-4A0C-B489-DC004443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YATRA  /  EVALUATOR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766DC9-1ACB-4955-913F-3B96CEFE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E1BBDD-D18E-452F-8533-CF6AB63D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Example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6BD44-C8FB-492F-BD29-B3F66A00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086100" cy="3267075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101F2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3C894B-1F73-415A-9D93-752D4B18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3362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Bengaluru → Delhi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4BC9C9-299A-4C7A-8B44-45DB07AC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2F0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2F0E6"/>
                </a:solidFill>
                <a:latin typeface="Helvetica Neue"/>
                <a:ea typeface="Helvetica Neue"/>
                <a:cs typeface="Helvetica Neue"/>
              </a:rPr>
              <a:t>16–21 Nov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C6152A-1DDD-4949-A708-C40EA1D5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623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0DE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D0DEE0"/>
                </a:solidFill>
                <a:latin typeface="Helvetica Neue"/>
                <a:ea typeface="Helvetica Neue"/>
                <a:cs typeface="Helvetica Neue"/>
              </a:rPr>
              <a:t>2 travelers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770596-D62E-4C52-BB3B-68428403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528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BE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9BEC2"/>
                </a:solidFill>
                <a:latin typeface="Helvetica Neue"/>
                <a:ea typeface="Helvetica Neue"/>
                <a:cs typeface="Helvetica Neue"/>
              </a:rPr>
              <a:t>Hard cap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660A75-BBE7-40C3-886B-B53D0A52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910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849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₹50,000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5E2114-523F-4476-A14F-FEF7A664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7202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0DE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D0DEE0"/>
                </a:solidFill>
                <a:latin typeface="Helvetica Neue"/>
                <a:ea typeface="Helvetica Neue"/>
                <a:cs typeface="Helvetica Neue"/>
              </a:rPr>
              <a:t>The planner asks for missing details</a:t>
            </a:r>
          </a:p>
          <a:p xmlns:a="http://schemas.openxmlformats.org/drawingml/2006/main">
            <a:pPr algn="l">
              <a:defRPr sz="1050" b="0">
                <a:solidFill>
                  <a:srgbClr val="D0DE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D0DEE0"/>
                </a:solidFill>
                <a:latin typeface="Helvetica Neue"/>
                <a:ea typeface="Helvetica Neue"/>
                <a:cs typeface="Helvetica Neue"/>
              </a:rPr>
              <a:t>before starting a search.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E4E463-BAAF-474E-88A9-7818FDDA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00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0E743F-1D62-4FAE-BB3C-E06E21E3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145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D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7E0E51-3C65-46CD-9AC2-FB692466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94310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Search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D08B54-7734-4E71-9D11-3A177037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431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Flights + stay inventory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3BE907-6875-42AC-9961-97B25C04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62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4609D9-B572-47D1-AD46-CC26C22C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765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D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CFF34D-F79A-460E-B777-5EB09DFE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0510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Compare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DABEC1-7643-41A1-80F2-AD034711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Three package choices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8B439C-E363-42AF-A7F0-0AA93034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24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76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D00DF6-2F71-4B64-A41C-B289D80B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385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D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48E134-CC84-461D-A4DE-FD105421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46710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Protect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650FEB-F690-4973-AF71-801A9391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671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Over-cap option refused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F2366E-ABD8-4D17-874E-5C265358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86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8206AB-7E52-483A-A956-A2B98F7A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005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D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08FB67-74D5-4953-BC8D-61E07B85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22910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Recover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EE1A32-3698-423A-A5C6-993DF9EC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291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Re-plan within the cap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EEB917-34D8-4197-8142-5FCF1199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E5469B-3A2B-45EC-A65F-30810B9C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99110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Approve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B6C452-9B65-4C75-98C2-E8E567CB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911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Traveler confirms the cart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2E1A9B-7492-4768-9F28-8D711B40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94360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Demo catalog and prices are seeded; booking/payment is mocked.</a:t>
            </a:r>
          </a:p>
        </p:txBody>
      </p:sp>
    </p:spTree>
    <p:extLst>
      <p:ext uri="{BB962C8B-B14F-4D97-AF65-F5344CB8AC3E}">
        <p14:creationId xmlns:p14="http://schemas.microsoft.com/office/powerpoint/2010/main" val="17654372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83B8F7-145A-4851-A345-DBBA37CE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SYSTEM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86390E-2685-45EB-8C90-CDFE570F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Separate services keep authority in the right place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DD9C73-B725-4133-A7DB-0FD8141A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E2FA93-8672-4A7D-AF7C-CC1C8C5D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YATRA  /  EVALUATOR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5BE27A-BA78-40E9-827E-79696DCF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091DCE-2C11-483D-9750-D148C21B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286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BE124-5D8D-48BB-B4BB-6427BFF3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3A98D9-3180-45A2-AC16-0EC96D84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14625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41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TRAVELER + FRONTEND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F8D4F0-73E4-4D26-A916-4C04F1C1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9925"/>
            <a:ext cx="1866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Trip brief · compare · approve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F78719-8CAB-404D-BDA4-8E865E95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41935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D47811-3757-4ECB-817B-5C88875F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4193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76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83664A-97DB-480C-A07E-D0FE395F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14625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YATRA 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DA765C-EA9C-4F8C-A95A-C7B58E91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09925"/>
            <a:ext cx="243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LangGraph workflow · tool calls</a:t>
            </a:r>
          </a:p>
          <a:p xmlns:a="http://schemas.openxmlformats.org/drawingml/2006/main">
            <a:pPr algn="l">
              <a:def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clarifications · re-planning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57E7F6-748B-4F24-98DF-041144D8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19350"/>
            <a:ext cx="37719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01F2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094871-B23A-4859-A9D9-74D2391A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19350"/>
            <a:ext cx="3771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67E08C-F569-420D-94A6-1FF26008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14625"/>
            <a:ext cx="335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BACKEND AUTHORITY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46CE3F-9065-4EFD-9CDE-16C2BFB8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09925"/>
            <a:ext cx="335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Catalog · pricing · cap · cart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confirmation · audit · mock booking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3B606B-B35F-475E-87A0-D60B2E5C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24225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3D6C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5B5E86-B21F-4D33-8252-3A69DF70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9813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goal + choice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A96AB1-8312-41E6-B702-E005D770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24225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3D6C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9D1EB6-2C37-4D9C-835B-7FF86A85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9813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HTTP contract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24DFEF-152C-4FE0-B17E-6D1C1FCE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00575"/>
            <a:ext cx="37719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2E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B48C63-B517-4BA4-B8DC-3D3EC5C0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815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89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Working-copy SQLite · protected source database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225130-AAD0-4153-AA59-771CE78A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Agent has no database access or booking authority.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3D4D26-D78B-4371-B74A-95DDAC6B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Inventory comes from the project's demo catalog; external airline/hotel APIs are not connected.</a:t>
            </a:r>
          </a:p>
        </p:txBody>
      </p:sp>
    </p:spTree>
    <p:extLst>
      <p:ext uri="{BB962C8B-B14F-4D97-AF65-F5344CB8AC3E}">
        <p14:creationId xmlns:p14="http://schemas.microsoft.com/office/powerpoint/2010/main" val="8581155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6A3026-76F8-4873-99CC-6D294511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BUDGET AND APPROVAL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86152B-D532-4081-8B84-1C9937A4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The backend enforces the rules that matter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EBE121-12C8-459D-823E-2607D5CC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FB317A-5C51-465B-B480-B61665F7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YATRA  /  EVALUATOR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2F8963-F8B9-4AFF-ACAF-49E61C05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403FD0-0E52-4644-8758-FFDF22CC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2197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CCE4C7-16C8-4227-9FD5-549B8A20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857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4C5F43-F1DC-419C-82BA-F3A0EB40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457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HARD SPEND CAP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2C610F-C580-42C5-A568-B106ABEE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4524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Every cart mutation is checked against the effective cap, including tax.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F49FC6-D6B7-44CA-BA78-01319DBC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52197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52D3F7-A939-4B9E-8DB0-799FA064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857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76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873958-4778-4225-84E1-9F9C6454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90750"/>
            <a:ext cx="457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rPr>
              <a:t>REFUSAL IS RECORDED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E4ED2C-1B21-4252-B786-10A578B4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90800"/>
            <a:ext cx="4524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An over-cap attempt is refused and logged as its own audit event.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FD4942-C31B-44C6-BD93-4AA16C93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52197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CAFFEC-2F11-4753-AF3A-5882F8B3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857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7F8103-7243-489C-9D64-A44D3C87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457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HUMAN CONFIRMATION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41E177-BA04-4549-A918-39087F9D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4524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Only a human can approve the hash-locked cart snapshot.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63C271-B41E-4C9E-87FF-B9DC88E7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71925"/>
            <a:ext cx="52197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0CF74C-DCF4-4A49-B3BE-E1C8F992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71925"/>
            <a:ext cx="857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D5B829-C88C-4E19-A38E-C5C15AE2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10050"/>
            <a:ext cx="457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MOCKED FULFILLMENT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00E9B7-677C-4C8C-A811-3CF74D52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10100"/>
            <a:ext cx="4524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Approval creates a demo booking; no real payment is taken.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385D7D-A05C-40F1-BC3B-A9A573B6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Agent recommendations are advisory; server-side validation is authoritative.</a:t>
            </a:r>
          </a:p>
        </p:txBody>
      </p:sp>
    </p:spTree>
    <p:extLst>
      <p:ext uri="{BB962C8B-B14F-4D97-AF65-F5344CB8AC3E}">
        <p14:creationId xmlns:p14="http://schemas.microsoft.com/office/powerpoint/2010/main" val="4024313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942DB9F-2FD6-4783-AA2E-A9A29A8C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AUDITABILITY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486C9E-40B5-408D-ABD2-175412E0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Every critical decision remains reviewable after the run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779EA-6618-405C-8AB6-567BCF0D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5F4A5B-FACF-428D-A76C-FCE5D4C3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YATRA  /  EVALUATOR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B4AD85-BDA8-425A-9D2F-A3415205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EE6E46-DB2F-47F6-97FD-CD174325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The timeline exposes actions, outcomes and reasons—not just the final itinerary.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60B290-08EB-4F1A-A536-A0BFDB04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4193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3D6C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DCFECD-3CF9-4320-8598-B3AA7B60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9F5AD5-15AA-4BA2-AB4A-B1F6A03B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76475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333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A0B8B4-AB44-4C4D-A733-3409910B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336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PLAN_STEP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DB43D9-6F4A-4592-A86E-1DED4B08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336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Plan steps announced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EAAAB1-091C-4CC7-A60C-1C4B149C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336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Recorded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974355-3885-4EF9-B587-AD0DD15E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00037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3D6C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E1DD5D-41F5-428B-8041-400732A7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289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CB97C4-8A42-4480-88DF-4FF563A0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333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AF7898-34EF-4042-8EB0-677C6BAB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146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TOOL_CALL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8AEB3B-94AD-49D7-9DAA-14504FEE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146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Flight + hotel 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67A204-3B55-4CB3-8256-4B7D31C8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146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Arguments and result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0C4232-D58C-411E-BB84-92357D57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58140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1876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7225F3-6FB3-4ECF-BFEC-9D354744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76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7870FA-8A9B-40EB-93F0-132C17B8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333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8C3546-1538-4C41-8587-36EE4080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95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rPr>
              <a:t>BUDGET_CHECK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7ACA7C-AFA3-4F61-857E-E2BA13F7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956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Spend cap exceeded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92A3A1-D543-498B-8EDC-A6F2B6B5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956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Refused · reason captured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019721-D0B3-49F2-9EE1-BFD9A1A8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6242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3D6C2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EB4160-5499-4B8F-94F3-67987012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909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C7B80E-251B-451C-B6BD-97B28585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95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333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11AA3E-1EC7-4A28-B584-9336402D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766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REPLAN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A5CDA0-A460-4714-87CD-F16C54FE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87667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Cheaper alternatives requested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12CFCE-CEFF-41A5-931F-5E637AA9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76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Recovery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EE5C17-DE9C-42A6-9210-CF2ED31F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434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3D6C2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4D8A93-1A53-45AB-8483-926B1BEF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F2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BB16A0-7AC3-4BC9-B25B-437C0220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00575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333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BA9E45-0135-4604-B1F5-535F8AFC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577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CONFIRMATION_REQUIRED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BE31FB-5299-42D2-9897-356DB7FC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577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Cart awaits traveler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001925-B69F-4C49-BF19-D4939D04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577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Explicit approval gate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0DBE4B-BBB2-41CA-A0B2-8ED9F6EB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32447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3D6C2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6A2D98-2F7C-4AE4-B62D-DFF31C54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981FCD-48CD-4BDF-B48E-77F6496D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816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333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EC3BC5-8DC9-41EE-ABE8-782B7CB9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387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BOOKING_CONFIRMED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C2F357-534A-42DC-9182-501B779C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0387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Mock booking created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6C4836B-6A05-44BC-8C6D-A207696C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387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Human-approved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7336A64-D3DB-409F-8C3D-334504E2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08204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01F2B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1C257FE-AE46-464A-9726-99C8F1FA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57875"/>
            <a:ext cx="1043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Append-only, hash-chained events · timeline view · chain verification</a:t>
            </a:r>
          </a:p>
        </p:txBody>
      </p:sp>
    </p:spTree>
    <p:extLst>
      <p:ext uri="{BB962C8B-B14F-4D97-AF65-F5344CB8AC3E}">
        <p14:creationId xmlns:p14="http://schemas.microsoft.com/office/powerpoint/2010/main" val="13232542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7EFD92-0191-4172-8B7B-A03D57C6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EVALUATOR CHECKLIST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927691-FBE5-4969-B8AF-559A0BA5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What the MVP demonstrates—and what remains a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B1E267-FBDB-4FCF-A392-B28455DE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746E28-0EC3-422B-AE8B-5130E523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YATRA  /  EVALUATOR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0412F5-7674-4F6C-9020-168B4274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7E9787-F64F-49CC-A169-B36812FE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30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943DCB-9BF7-4428-A054-42CC0A60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Trip goal intake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262EB6-542B-4EFB-806E-5D47F213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90700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Single trip with flight + hotel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ABFD3F-E412-4774-877D-23C8797D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30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FF9B3F-29F2-4462-B795-8A88518C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Transparent plan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6A96E4-317A-4F56-98CB-CE261A35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05050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Ordered steps shown before execution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F285C3-DF77-469E-A943-4DFA8C17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30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AE8748-9A67-4128-90C6-8A3F98CA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19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Tool use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36F80A-A48F-4713-B487-494930DB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19400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Search and budget check through tool calls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B92EF4-8238-4CAB-8A81-87D2C96C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30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186842-D2E8-4FC4-A7D7-EBD17CC4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Spend cap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9973D3-6C38-4B01-8746-1496E0EE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33750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Over-cap attempt refused; reason audited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A26A7F-88BB-41C6-A35C-A0B9F829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30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A63841-42AB-44DC-BEBA-A2566AA9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FAFE11-7BC3-4E6E-BC76-15166829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48100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Failure path replans alternatives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F56F0B-7861-4E1A-A06E-4A454BAA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30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532AB3-E901-41AC-A7E0-D6AC748A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62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Confirmation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99C522-A453-46B6-ACF4-F879CDF5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362450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Human gate before mock booking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960119-693A-415C-9A13-B26DC7B0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30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1CB250-50E0-41B6-BD34-560FB2B7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76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Audit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B32059-44F0-440A-A7AE-0373B902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876800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Post-run timeline + chain verification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A4D9A1-1620-4634-BDD1-31074D4C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00225"/>
            <a:ext cx="0" cy="3533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D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2C59E1-016D-45E1-9FE7-D9D5E254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186690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1876D"/>
                </a:solidFill>
                <a:latin typeface="Helvetica Neue"/>
                <a:ea typeface="Helvetica Neue"/>
                <a:cs typeface="Helvetica Neue"/>
              </a:rPr>
              <a:t>DEMO BOUNDARIES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4E4257-9BE0-486E-984E-7A09F8A0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371725"/>
            <a:ext cx="1952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Seeded inventory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BB915D-A277-4F81-854E-17D6628A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657475"/>
            <a:ext cx="198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No live travel-provider search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41A312-AE8B-48FE-BC43-204D7D82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419475"/>
            <a:ext cx="1952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Mock booking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CF8DFE-EDAB-473C-8704-6497159A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705225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No payment or ticket issuance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9FA7D1-25F3-4FBE-AE43-45F7DE40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467225"/>
            <a:ext cx="1952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Activities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55A446-4214-4311-97D5-8108BB0F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752975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Informational; not bookable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520F5B-FC8B-4D3C-ADDF-A1AF663A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1F2B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B8E833-B4F1-453D-A93E-D83F8AB1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62625"/>
            <a:ext cx="1040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218 automated tests passed in the latest recorded project run</a:t>
            </a:r>
          </a:p>
        </p:txBody>
      </p:sp>
    </p:spTree>
    <p:extLst>
      <p:ext uri="{BB962C8B-B14F-4D97-AF65-F5344CB8AC3E}">
        <p14:creationId xmlns:p14="http://schemas.microsoft.com/office/powerpoint/2010/main" val="14896317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5C4562-42AD-4B26-8AE8-CD94C126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DEMO 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2BD373-526E-4196-9E20-2986A55B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943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Yatra makes the plan visible—and keeps the traveler in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70DFA7-B221-461B-A779-D1AAD359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C97AD-E85A-4990-8706-11014DD4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YATRA  /  EVALUATOR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6258DA-1ECA-4D85-834A-CCEF8C42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8A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99932E-6CD8-46EC-BB56-FA9B0D2D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3D6C2"/>
                </a:solidFill>
                <a:latin typeface="Helvetica Neue"/>
                <a:ea typeface="Helvetica Neue"/>
                <a:cs typeface="Helvetica Neue"/>
              </a:rPr>
              <a:t>Show the evaluator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476113-A503-4CA8-BCE6-4F60F501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B6C09F-B20C-47B8-975B-B7E14EDA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145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959E69-1C10-40C0-9310-E62A1F6A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76475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Enter a trip goal with dates, travelers and a hard cap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CB98C1-61DE-42C1-A420-99164719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86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3ADD63-118D-4EE9-998A-F438B486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241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3AF149-D32D-4723-9B48-5F2DBC59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86075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Review the ordered plan and search results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0A37DF-8BAF-44C3-90F3-CCD02383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95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76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0744D8-C271-4DC4-BF0C-C68DAD5D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5337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59E69A-4E36-4574-96D0-C2C7DD3C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95675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Trigger an over-cap refusal and inspect the audit entry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3577AF-BB9B-4298-96E7-63096593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6AF3AA-7ABB-4284-A4A2-E11126FE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1433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FDD61A-D48C-42FB-B035-72621DE5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05275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Choose a lower-cost option and open the confirmation gate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33823F-C402-4857-890D-B7856B3D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6C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CB1D8F-8915-4CBA-AF79-8C70B859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752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F2B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D6856A-5256-4FD1-B446-BD1BB9E2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14875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32D"/>
                </a:solidFill>
                <a:latin typeface="Helvetica Neue"/>
                <a:ea typeface="Helvetica Neue"/>
                <a:cs typeface="Helvetica Neue"/>
              </a:rPr>
              <a:t>Approve the mock booking; verify the audit chain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D09B24-F2AC-4D59-9947-C65DF39A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1F2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B0DFFF-B3ED-4F6D-A025-C1854164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34050"/>
            <a:ext cx="1043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YATRA  /  A safer, clearer way to plan a trip</a:t>
            </a:r>
          </a:p>
        </p:txBody>
      </p:sp>
    </p:spTree>
    <p:extLst>
      <p:ext uri="{BB962C8B-B14F-4D97-AF65-F5344CB8AC3E}">
        <p14:creationId xmlns:p14="http://schemas.microsoft.com/office/powerpoint/2010/main" val="737249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2026-09-24T23:52:39.9510000Z</dcterms:created>
  <dcterms:modified xsi:type="dcterms:W3CDTF">2026-09-24T23:52:39.9510000Z</dcterms:modified>
</coreProperties>
</file>